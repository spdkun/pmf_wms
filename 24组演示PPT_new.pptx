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3"/>
    <p:sldMasterId id="214748367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目录封底" id="{F7EB8661-8DC2-4EED-A36F-91365E500B7E}">
          <p14:sldIdLst>
            <p14:sldId id="256"/>
            <p14:sldId id="257"/>
            <p14:sldId id="258"/>
            <p14:sldId id="259"/>
          </p14:sldIdLst>
        </p14:section>
        <p14:section name="图片类页面" id="{28DD7E20-BED7-4AF7-B511-515AEC27268E}">
          <p14:sldIdLst>
            <p14:sldId id="260"/>
            <p14:sldId id="261"/>
            <p14:sldId id="262"/>
            <p14:sldId id="263"/>
            <p14:sldId id="264"/>
          </p14:sldIdLst>
        </p14:section>
        <p14:section name="图表类页面" id="{42A29298-A397-470C-9B31-C898788540EC}">
          <p14:sldIdLst>
            <p14:sldId id="265"/>
            <p14:sldId id="266"/>
          </p14:sldIdLst>
        </p14:section>
        <p14:section name="文字类页面" id="{38DE467C-B458-4C09-A134-3A02D151A438}">
          <p14:sldIdLst/>
        </p14:section>
        <p14:section name="特殊页面" id="{7A77159C-4FD4-478A-9B26-BED590132D13}">
          <p14:sldIdLst/>
        </p14:section>
        <p14:section name="使用手册" id="{7C5A83C6-2E03-48D1-82E7-C7F3BA0ABC18}">
          <p14:sldIdLst/>
        </p14:section>
      </p14:sectionLst>
    </p:ext>
    <p:ext uri="{EFAFB233-063F-42B5-8137-9DF3F51BA10A}">
      <p15:sldGuideLst xmlns:p15="http://schemas.microsoft.com/office/powerpoint/2012/main">
        <p15:guide id="1" pos="424" userDrawn="1">
          <p15:clr>
            <a:srgbClr val="A4A3A4"/>
          </p15:clr>
        </p15:guide>
        <p15:guide id="2" pos="7264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2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1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492" y="56"/>
      </p:cViewPr>
      <p:guideLst>
        <p:guide pos="424"/>
        <p:guide pos="7264"/>
        <p:guide orient="horz" pos="648"/>
        <p:guide orient="horz" pos="712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emf"/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02549" y="3234727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559659" y="1128211"/>
            <a:ext cx="3072682" cy="767856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/>
        </p:nvCxnSpPr>
        <p:spPr>
          <a:xfrm>
            <a:off x="5186680" y="3897585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21"/>
          <p:cNvSpPr>
            <a:spLocks noGrp="1"/>
          </p:cNvSpPr>
          <p:nvPr>
            <p:ph type="body" sz="quarter" idx="13" hasCustomPrompt="1"/>
          </p:nvPr>
        </p:nvSpPr>
        <p:spPr>
          <a:xfrm>
            <a:off x="3520598" y="4207533"/>
            <a:ext cx="5150803" cy="4722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3" name="十字形 22"/>
          <p:cNvSpPr/>
          <p:nvPr userDrawn="1"/>
        </p:nvSpPr>
        <p:spPr>
          <a:xfrm rot="2700000">
            <a:off x="5951999" y="5523207"/>
            <a:ext cx="288000" cy="288000"/>
          </a:xfrm>
          <a:prstGeom prst="plus">
            <a:avLst>
              <a:gd name="adj" fmla="val 458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5" hasCustomPrompt="1"/>
          </p:nvPr>
        </p:nvSpPr>
        <p:spPr>
          <a:xfrm>
            <a:off x="3971639" y="5893688"/>
            <a:ext cx="4248721" cy="342012"/>
          </a:xfrm>
        </p:spPr>
        <p:txBody>
          <a:bodyPr wrap="square">
            <a:noAutofit/>
          </a:bodyPr>
          <a:lstStyle>
            <a:lvl1pPr marL="0" indent="0" algn="ctr">
              <a:buNone/>
              <a:defRPr lang="zh-CN" altLang="en-US" sz="1600" kern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这里可以写你的学院或者专业名称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130300"/>
            <a:ext cx="12192000" cy="5365107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539511" y="307331"/>
            <a:ext cx="3250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>
                    <a:alpha val="31000"/>
                  </a:schemeClr>
                </a:solidFill>
                <a:latin typeface="+mj-lt"/>
              </a:rPr>
              <a:t>Contents</a:t>
            </a:r>
            <a:endParaRPr lang="zh-CN" altLang="en-US" sz="5400" b="1" dirty="0">
              <a:solidFill>
                <a:schemeClr val="bg1">
                  <a:alpha val="31000"/>
                </a:schemeClr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501023" y="171621"/>
            <a:ext cx="150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4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8" name="文本占位符 17"/>
          <p:cNvSpPr>
            <a:spLocks noGrp="1"/>
          </p:cNvSpPr>
          <p:nvPr>
            <p:ph type="body" sz="quarter" idx="13" hasCustomPrompt="1"/>
          </p:nvPr>
        </p:nvSpPr>
        <p:spPr>
          <a:xfrm>
            <a:off x="2569759" y="2028114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2569759" y="2519790"/>
            <a:ext cx="3250169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30" name="文本占位符 17"/>
          <p:cNvSpPr>
            <a:spLocks noGrp="1"/>
          </p:cNvSpPr>
          <p:nvPr>
            <p:ph type="body" sz="quarter" idx="15" hasCustomPrompt="1"/>
          </p:nvPr>
        </p:nvSpPr>
        <p:spPr>
          <a:xfrm>
            <a:off x="7152979" y="2028114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31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7152979" y="2519790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39" name="文本占位符 17"/>
          <p:cNvSpPr>
            <a:spLocks noGrp="1"/>
          </p:cNvSpPr>
          <p:nvPr>
            <p:ph type="body" sz="quarter" idx="17" hasCustomPrompt="1"/>
          </p:nvPr>
        </p:nvSpPr>
        <p:spPr>
          <a:xfrm>
            <a:off x="2569759" y="3329661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0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2569759" y="3821337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2" name="文本占位符 17"/>
          <p:cNvSpPr>
            <a:spLocks noGrp="1"/>
          </p:cNvSpPr>
          <p:nvPr>
            <p:ph type="body" sz="quarter" idx="19" hasCustomPrompt="1"/>
          </p:nvPr>
        </p:nvSpPr>
        <p:spPr>
          <a:xfrm>
            <a:off x="7152979" y="3329661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3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7152979" y="3821337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5" name="文本占位符 17"/>
          <p:cNvSpPr>
            <a:spLocks noGrp="1"/>
          </p:cNvSpPr>
          <p:nvPr>
            <p:ph type="body" sz="quarter" idx="21" hasCustomPrompt="1"/>
          </p:nvPr>
        </p:nvSpPr>
        <p:spPr>
          <a:xfrm>
            <a:off x="2569759" y="4712488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6" name="文本占位符 21"/>
          <p:cNvSpPr>
            <a:spLocks noGrp="1"/>
          </p:cNvSpPr>
          <p:nvPr>
            <p:ph type="body" sz="quarter" idx="22" hasCustomPrompt="1"/>
          </p:nvPr>
        </p:nvSpPr>
        <p:spPr>
          <a:xfrm>
            <a:off x="2569759" y="5204164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8" name="文本占位符 17"/>
          <p:cNvSpPr>
            <a:spLocks noGrp="1"/>
          </p:cNvSpPr>
          <p:nvPr>
            <p:ph type="body" sz="quarter" idx="23" hasCustomPrompt="1"/>
          </p:nvPr>
        </p:nvSpPr>
        <p:spPr>
          <a:xfrm>
            <a:off x="7152979" y="4712488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9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7152979" y="5204164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2" name="文本占位符 51"/>
          <p:cNvSpPr>
            <a:spLocks noGrp="1"/>
          </p:cNvSpPr>
          <p:nvPr>
            <p:ph type="body" sz="quarter" idx="25" hasCustomPrompt="1"/>
          </p:nvPr>
        </p:nvSpPr>
        <p:spPr>
          <a:xfrm>
            <a:off x="1708078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2" name="文本占位符 51"/>
          <p:cNvSpPr>
            <a:spLocks noGrp="1"/>
          </p:cNvSpPr>
          <p:nvPr>
            <p:ph type="body" sz="quarter" idx="26" hasCustomPrompt="1"/>
          </p:nvPr>
        </p:nvSpPr>
        <p:spPr>
          <a:xfrm>
            <a:off x="6283367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3" name="文本占位符 51"/>
          <p:cNvSpPr>
            <a:spLocks noGrp="1"/>
          </p:cNvSpPr>
          <p:nvPr>
            <p:ph type="body" sz="quarter" idx="27" hasCustomPrompt="1"/>
          </p:nvPr>
        </p:nvSpPr>
        <p:spPr>
          <a:xfrm>
            <a:off x="1708078" y="333218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4" name="文本占位符 51"/>
          <p:cNvSpPr>
            <a:spLocks noGrp="1"/>
          </p:cNvSpPr>
          <p:nvPr>
            <p:ph type="body" sz="quarter" idx="28" hasCustomPrompt="1"/>
          </p:nvPr>
        </p:nvSpPr>
        <p:spPr>
          <a:xfrm>
            <a:off x="6283367" y="332842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5" name="文本占位符 51"/>
          <p:cNvSpPr>
            <a:spLocks noGrp="1"/>
          </p:cNvSpPr>
          <p:nvPr>
            <p:ph type="body" sz="quarter" idx="29" hasCustomPrompt="1"/>
          </p:nvPr>
        </p:nvSpPr>
        <p:spPr>
          <a:xfrm>
            <a:off x="1708078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6" name="文本占位符 51"/>
          <p:cNvSpPr>
            <a:spLocks noGrp="1"/>
          </p:cNvSpPr>
          <p:nvPr>
            <p:ph type="body" sz="quarter" idx="30" hasCustomPrompt="1"/>
          </p:nvPr>
        </p:nvSpPr>
        <p:spPr>
          <a:xfrm>
            <a:off x="6283367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9551847" y="550504"/>
            <a:ext cx="1967053" cy="4695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1130300"/>
            <a:ext cx="12192000" cy="537527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3000"/>
                </a:schemeClr>
              </a:gs>
              <a:gs pos="50000">
                <a:srgbClr val="F6FAFF">
                  <a:alpha val="93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1320160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0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1320160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sz="3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51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1320160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  <a:endParaRPr lang="zh-CN" altLang="en-US" dirty="0"/>
          </a:p>
        </p:txBody>
      </p:sp>
      <p:sp>
        <p:nvSpPr>
          <p:cNvPr id="58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4171321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9" name="文本占位符 17"/>
          <p:cNvSpPr>
            <a:spLocks noGrp="1"/>
          </p:cNvSpPr>
          <p:nvPr>
            <p:ph type="body" sz="quarter" idx="17" hasCustomPrompt="1"/>
          </p:nvPr>
        </p:nvSpPr>
        <p:spPr>
          <a:xfrm>
            <a:off x="4171321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60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4171321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  <a:endParaRPr lang="zh-CN" altLang="en-US" dirty="0"/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19" hasCustomPrompt="1"/>
          </p:nvPr>
        </p:nvSpPr>
        <p:spPr>
          <a:xfrm>
            <a:off x="1320160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2" name="文本占位符 17"/>
          <p:cNvSpPr>
            <a:spLocks noGrp="1"/>
          </p:cNvSpPr>
          <p:nvPr>
            <p:ph type="body" sz="quarter" idx="20" hasCustomPrompt="1"/>
          </p:nvPr>
        </p:nvSpPr>
        <p:spPr>
          <a:xfrm>
            <a:off x="1320160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63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320160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  <a:endParaRPr lang="zh-CN" altLang="en-US" dirty="0"/>
          </a:p>
        </p:txBody>
      </p:sp>
      <p:sp>
        <p:nvSpPr>
          <p:cNvPr id="64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4171321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5" name="文本占位符 17"/>
          <p:cNvSpPr>
            <a:spLocks noGrp="1"/>
          </p:cNvSpPr>
          <p:nvPr>
            <p:ph type="body" sz="quarter" idx="23" hasCustomPrompt="1"/>
          </p:nvPr>
        </p:nvSpPr>
        <p:spPr>
          <a:xfrm>
            <a:off x="4171321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66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4171321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1130300"/>
            <a:ext cx="12192000" cy="5357038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29" name="组合 28"/>
          <p:cNvGrpSpPr/>
          <p:nvPr userDrawn="1"/>
        </p:nvGrpSpPr>
        <p:grpSpPr>
          <a:xfrm>
            <a:off x="6190092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70000"/>
            </a:schemeClr>
          </a:solidFill>
        </p:grpSpPr>
        <p:sp>
          <p:nvSpPr>
            <p:cNvPr id="30" name="Rectangle 51"/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52"/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53"/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54"/>
            <p:cNvSpPr/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55"/>
            <p:cNvSpPr/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56"/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57"/>
            <p:cNvSpPr/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58"/>
            <p:cNvSpPr/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59"/>
            <p:cNvSpPr/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60"/>
            <p:cNvSpPr/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61"/>
            <p:cNvSpPr/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62"/>
            <p:cNvSpPr/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63"/>
            <p:cNvSpPr/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64"/>
            <p:cNvSpPr/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65"/>
            <p:cNvSpPr/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6"/>
            <p:cNvSpPr/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67"/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68"/>
            <p:cNvSpPr/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69"/>
            <p:cNvSpPr/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70"/>
            <p:cNvSpPr/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1" name="矩形 20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53" name="文本占位符 52"/>
          <p:cNvSpPr>
            <a:spLocks noGrp="1"/>
          </p:cNvSpPr>
          <p:nvPr>
            <p:ph type="body" sz="quarter" idx="10" hasCustomPrompt="1"/>
          </p:nvPr>
        </p:nvSpPr>
        <p:spPr>
          <a:xfrm>
            <a:off x="1842552" y="2204791"/>
            <a:ext cx="2706708" cy="2336718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6800">
                <a:gradFill>
                  <a:gsLst>
                    <a:gs pos="0">
                      <a:schemeClr val="accent1">
                        <a:alpha val="9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27" name="标题 26"/>
          <p:cNvSpPr>
            <a:spLocks noGrp="1"/>
          </p:cNvSpPr>
          <p:nvPr>
            <p:ph type="title" hasCustomPrompt="1"/>
          </p:nvPr>
        </p:nvSpPr>
        <p:spPr>
          <a:xfrm>
            <a:off x="1842552" y="3689995"/>
            <a:ext cx="4012560" cy="552357"/>
          </a:xfrm>
        </p:spPr>
        <p:txBody>
          <a:bodyPr lIns="0">
            <a:noAutofit/>
          </a:bodyPr>
          <a:lstStyle>
            <a:lvl1pPr algn="l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章节题目</a:t>
            </a:r>
            <a:endParaRPr lang="zh-CN" altLang="en-US" dirty="0"/>
          </a:p>
        </p:txBody>
      </p:sp>
      <p:pic>
        <p:nvPicPr>
          <p:cNvPr id="56" name="图片 55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8" name="文本占位符 57"/>
          <p:cNvSpPr>
            <a:spLocks noGrp="1"/>
          </p:cNvSpPr>
          <p:nvPr>
            <p:ph type="body" sz="quarter" idx="11" hasCustomPrompt="1"/>
          </p:nvPr>
        </p:nvSpPr>
        <p:spPr>
          <a:xfrm>
            <a:off x="1842552" y="4305568"/>
            <a:ext cx="4012560" cy="471882"/>
          </a:xfrm>
        </p:spPr>
        <p:txBody>
          <a:bodyPr lIns="0">
            <a:noAutofit/>
          </a:bodyPr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插入章节描述或者英文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8817557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42" name="Rectangle 51"/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52"/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53"/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54"/>
            <p:cNvSpPr/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55"/>
            <p:cNvSpPr/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56"/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57"/>
            <p:cNvSpPr/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58"/>
            <p:cNvSpPr/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59"/>
            <p:cNvSpPr/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60"/>
            <p:cNvSpPr/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61"/>
            <p:cNvSpPr/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62"/>
            <p:cNvSpPr/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63"/>
            <p:cNvSpPr/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64"/>
            <p:cNvSpPr/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65"/>
            <p:cNvSpPr/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66"/>
            <p:cNvSpPr/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67"/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68"/>
            <p:cNvSpPr/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69"/>
            <p:cNvSpPr/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70"/>
            <p:cNvSpPr/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2" name="组合 61"/>
          <p:cNvGrpSpPr/>
          <p:nvPr userDrawn="1"/>
        </p:nvGrpSpPr>
        <p:grpSpPr>
          <a:xfrm>
            <a:off x="-3520096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63" name="Rectangle 51"/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52"/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53"/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54"/>
            <p:cNvSpPr/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5"/>
            <p:cNvSpPr/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6"/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7"/>
            <p:cNvSpPr/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58"/>
            <p:cNvSpPr/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59"/>
            <p:cNvSpPr/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60"/>
            <p:cNvSpPr/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61"/>
            <p:cNvSpPr/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62"/>
            <p:cNvSpPr/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63"/>
            <p:cNvSpPr/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64"/>
            <p:cNvSpPr/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65"/>
            <p:cNvSpPr/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66"/>
            <p:cNvSpPr/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67"/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68"/>
            <p:cNvSpPr/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69"/>
            <p:cNvSpPr/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70"/>
            <p:cNvSpPr/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" name="文本框 3"/>
          <p:cNvSpPr txBox="1"/>
          <p:nvPr userDrawn="1"/>
        </p:nvSpPr>
        <p:spPr>
          <a:xfrm>
            <a:off x="1043939" y="1761846"/>
            <a:ext cx="9758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gradFill>
                  <a:gsLst>
                    <a:gs pos="0">
                      <a:schemeClr val="accent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THANKS FOR LISTENING</a:t>
            </a:r>
            <a:endParaRPr lang="zh-CN" altLang="en-US" sz="8000" dirty="0">
              <a:gradFill>
                <a:gsLst>
                  <a:gs pos="0">
                    <a:schemeClr val="accent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02549" y="4013895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84" name="图片 8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5100338" y="5571410"/>
            <a:ext cx="1991324" cy="475325"/>
          </a:xfrm>
          <a:prstGeom prst="rect">
            <a:avLst/>
          </a:prstGeom>
        </p:spPr>
      </p:pic>
      <p:cxnSp>
        <p:nvCxnSpPr>
          <p:cNvPr id="85" name="直接连接符 84"/>
          <p:cNvCxnSpPr/>
          <p:nvPr userDrawn="1"/>
        </p:nvCxnSpPr>
        <p:spPr>
          <a:xfrm>
            <a:off x="5186680" y="3632200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60400" y="1165224"/>
            <a:ext cx="10858500" cy="473773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特别说明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1243080" y="1702820"/>
            <a:ext cx="3038400" cy="2341146"/>
            <a:chOff x="1243693" y="1981257"/>
            <a:chExt cx="3038400" cy="2341146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237671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216039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模板作者</a:t>
              </a:r>
              <a:endParaRPr lang="zh-CN" altLang="en-US" sz="2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43693" y="2823851"/>
              <a:ext cx="3038400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作者：王志浩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中国石油大学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华东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计算机科学与技术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实验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2015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级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442914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 userDrawn="1"/>
        </p:nvGrpSpPr>
        <p:grpSpPr>
          <a:xfrm>
            <a:off x="4576800" y="1702820"/>
            <a:ext cx="3038400" cy="1981047"/>
            <a:chOff x="4577413" y="1981257"/>
            <a:chExt cx="3038400" cy="1981047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571043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549411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特别感谢</a:t>
              </a:r>
              <a:endParaRPr lang="zh-CN" altLang="en-US" sz="2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577413" y="2823851"/>
              <a:ext cx="3038400" cy="1138453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图片素材：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@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图说石大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主办方：秋叶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PPT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指导老师：老秦、伟崇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7910519" y="1702820"/>
            <a:ext cx="3037175" cy="2341146"/>
            <a:chOff x="7911132" y="1981257"/>
            <a:chExt cx="3037175" cy="2341146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9043540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8827222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版权说明</a:t>
              </a:r>
              <a:endParaRPr lang="zh-CN" altLang="en-US" sz="2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911132" y="2823851"/>
              <a:ext cx="3037175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本套模板为</a:t>
              </a: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公益性质</a:t>
              </a:r>
              <a:endPara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免费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赠与学校师生使用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盈利行为请勿相信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商用请注意图片和字体版权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776286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 userDrawn="1"/>
        </p:nvGrpSpPr>
        <p:grpSpPr>
          <a:xfrm>
            <a:off x="3179324" y="4339865"/>
            <a:ext cx="6852280" cy="1560741"/>
            <a:chOff x="3179937" y="4561006"/>
            <a:chExt cx="6852280" cy="1560741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5" cstate="email"/>
            <a:srcRect/>
            <a:stretch>
              <a:fillRect/>
            </a:stretch>
          </p:blipFill>
          <p:spPr>
            <a:xfrm>
              <a:off x="3179937" y="4561006"/>
              <a:ext cx="1402932" cy="1560741"/>
            </a:xfrm>
            <a:prstGeom prst="rect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>
              <a:off x="4934551" y="4772150"/>
              <a:ext cx="5097666" cy="1138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/>
                <a:t>有什么想对作者说的吗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对模板还有更好的建议或者使用方面的困惑吗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欢迎加入模板公测</a:t>
              </a:r>
              <a:r>
                <a:rPr lang="en-US" altLang="zh-CN" dirty="0"/>
                <a:t>QQ</a:t>
              </a:r>
              <a:r>
                <a:rPr lang="zh-CN" altLang="en-US" dirty="0"/>
                <a:t>群</a:t>
              </a:r>
              <a:r>
                <a:rPr lang="en-US" altLang="zh-CN" dirty="0"/>
                <a:t>~(</a:t>
              </a:r>
              <a:r>
                <a:rPr lang="zh-CN" altLang="en-US" dirty="0"/>
                <a:t>群号：</a:t>
              </a:r>
              <a:r>
                <a:rPr lang="en-US" altLang="zh-CN" dirty="0"/>
                <a:t>521252309)</a:t>
              </a:r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60400" y="1444625"/>
            <a:ext cx="10871200" cy="305911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4456140" y="1789140"/>
            <a:ext cx="3279720" cy="3279720"/>
          </a:xfrm>
          <a:custGeom>
            <a:avLst/>
            <a:gdLst>
              <a:gd name="connsiteX0" fmla="*/ 1849434 w 3698868"/>
              <a:gd name="connsiteY0" fmla="*/ 0 h 3698868"/>
              <a:gd name="connsiteX1" fmla="*/ 3698868 w 3698868"/>
              <a:gd name="connsiteY1" fmla="*/ 1849434 h 3698868"/>
              <a:gd name="connsiteX2" fmla="*/ 1849434 w 3698868"/>
              <a:gd name="connsiteY2" fmla="*/ 3698868 h 3698868"/>
              <a:gd name="connsiteX3" fmla="*/ 0 w 3698868"/>
              <a:gd name="connsiteY3" fmla="*/ 1849434 h 3698868"/>
              <a:gd name="connsiteX4" fmla="*/ 1849434 w 3698868"/>
              <a:gd name="connsiteY4" fmla="*/ 0 h 369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868" h="3698868">
                <a:moveTo>
                  <a:pt x="1849434" y="0"/>
                </a:moveTo>
                <a:cubicBezTo>
                  <a:pt x="2870848" y="0"/>
                  <a:pt x="3698868" y="828020"/>
                  <a:pt x="3698868" y="1849434"/>
                </a:cubicBezTo>
                <a:cubicBezTo>
                  <a:pt x="3698868" y="2870848"/>
                  <a:pt x="2870848" y="3698868"/>
                  <a:pt x="1849434" y="3698868"/>
                </a:cubicBezTo>
                <a:cubicBezTo>
                  <a:pt x="828020" y="3698868"/>
                  <a:pt x="0" y="2870848"/>
                  <a:pt x="0" y="1849434"/>
                </a:cubicBezTo>
                <a:cubicBezTo>
                  <a:pt x="0" y="828020"/>
                  <a:pt x="828020" y="0"/>
                  <a:pt x="1849434" y="0"/>
                </a:cubicBezTo>
                <a:close/>
              </a:path>
            </a:pathLst>
          </a:custGeom>
          <a:ln w="19050">
            <a:solidFill>
              <a:schemeClr val="accent1"/>
            </a:solidFill>
          </a:ln>
          <a:effectLst>
            <a:glow rad="254000">
              <a:schemeClr val="tx1">
                <a:lumMod val="95000"/>
                <a:lumOff val="5000"/>
                <a:alpha val="15000"/>
              </a:schemeClr>
            </a:glo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73100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3"/>
          <p:cNvSpPr>
            <a:spLocks noGrp="1"/>
          </p:cNvSpPr>
          <p:nvPr>
            <p:ph type="pic" sz="quarter" idx="11"/>
          </p:nvPr>
        </p:nvSpPr>
        <p:spPr>
          <a:xfrm>
            <a:off x="4464854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2"/>
          </p:nvPr>
        </p:nvSpPr>
        <p:spPr>
          <a:xfrm>
            <a:off x="8256608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张图片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9" name="图片占位符 5"/>
          <p:cNvSpPr>
            <a:spLocks noGrp="1" noChangeAspect="1"/>
          </p:cNvSpPr>
          <p:nvPr>
            <p:ph type="pic" sz="quarter" idx="11"/>
          </p:nvPr>
        </p:nvSpPr>
        <p:spPr>
          <a:xfrm>
            <a:off x="2950316" y="1733533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片占位符 5"/>
          <p:cNvSpPr>
            <a:spLocks noGrp="1" noChangeAspect="1"/>
          </p:cNvSpPr>
          <p:nvPr>
            <p:ph type="pic" sz="quarter" idx="10"/>
          </p:nvPr>
        </p:nvSpPr>
        <p:spPr>
          <a:xfrm>
            <a:off x="5104910" y="1755639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图片占位符 5"/>
          <p:cNvSpPr>
            <a:spLocks noGrp="1" noChangeAspect="1"/>
          </p:cNvSpPr>
          <p:nvPr>
            <p:ph type="pic" sz="quarter" idx="12"/>
          </p:nvPr>
        </p:nvSpPr>
        <p:spPr>
          <a:xfrm>
            <a:off x="7259504" y="1733532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Lef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图片占位符 5"/>
          <p:cNvSpPr>
            <a:spLocks noGrp="1" noChangeAspect="1"/>
          </p:cNvSpPr>
          <p:nvPr>
            <p:ph type="pic" sz="quarter" idx="13"/>
          </p:nvPr>
        </p:nvSpPr>
        <p:spPr>
          <a:xfrm>
            <a:off x="66953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图片占位符 5"/>
          <p:cNvSpPr>
            <a:spLocks noGrp="1" noChangeAspect="1"/>
          </p:cNvSpPr>
          <p:nvPr>
            <p:ph type="pic" sz="quarter" idx="14"/>
          </p:nvPr>
        </p:nvSpPr>
        <p:spPr>
          <a:xfrm>
            <a:off x="941409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>
              <a:rot lat="0" lon="1200000" rev="0"/>
            </a:camera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图片占位符 5"/>
          <p:cNvSpPr>
            <a:spLocks noGrp="1" noChangeAspect="1"/>
          </p:cNvSpPr>
          <p:nvPr>
            <p:ph type="pic" sz="quarter" idx="10"/>
          </p:nvPr>
        </p:nvSpPr>
        <p:spPr>
          <a:xfrm>
            <a:off x="1499073" y="1825844"/>
            <a:ext cx="2751289" cy="3553289"/>
          </a:xfrm>
          <a:ln w="19050">
            <a:noFill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椭圆 2"/>
          <p:cNvSpPr/>
          <p:nvPr userDrawn="1"/>
        </p:nvSpPr>
        <p:spPr>
          <a:xfrm>
            <a:off x="1673503" y="5512260"/>
            <a:ext cx="2402429" cy="31869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95000"/>
                  <a:lumOff val="5000"/>
                  <a:alpha val="0"/>
                </a:schemeClr>
              </a:gs>
              <a:gs pos="0">
                <a:schemeClr val="tx1">
                  <a:lumMod val="95000"/>
                  <a:lumOff val="5000"/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-317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4968964" y="4932365"/>
            <a:ext cx="4348599" cy="341632"/>
          </a:xfrm>
        </p:spPr>
        <p:txBody>
          <a:bodyPr wrap="square">
            <a:sp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“这里可以写一句话”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2" hasCustomPrompt="1"/>
          </p:nvPr>
        </p:nvSpPr>
        <p:spPr>
          <a:xfrm>
            <a:off x="6013765" y="2436142"/>
            <a:ext cx="1151586" cy="522087"/>
          </a:xfrm>
        </p:spPr>
        <p:txBody>
          <a:bodyPr lIns="0" rIns="0" bIns="0" anchor="b" anchorCtr="0">
            <a:noAutofit/>
          </a:bodyPr>
          <a:lstStyle>
            <a:lvl1pPr marL="0" indent="0" algn="ctr">
              <a:buNone/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3pPr>
            <a:lvl4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4pPr>
            <a:lvl5pPr>
              <a:defRPr lang="zh-CN" altLang="en-US" sz="2800" b="1" kern="12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31" name="文本占位符 26"/>
          <p:cNvSpPr>
            <a:spLocks noGrp="1"/>
          </p:cNvSpPr>
          <p:nvPr>
            <p:ph type="body" sz="quarter" idx="14" hasCustomPrompt="1"/>
          </p:nvPr>
        </p:nvSpPr>
        <p:spPr>
          <a:xfrm>
            <a:off x="7184414" y="2599498"/>
            <a:ext cx="1324446" cy="342008"/>
          </a:xfrm>
        </p:spPr>
        <p:txBody>
          <a:bodyPr lIns="0" rIns="0" bIns="0" anchor="b" anchorCtr="0">
            <a:norm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>
              <a:defRPr lang="zh-CN" altLang="en-US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职称</a:t>
            </a:r>
            <a:r>
              <a:rPr lang="en-US" altLang="zh-CN" dirty="0"/>
              <a:t>&amp;</a:t>
            </a:r>
            <a:r>
              <a:rPr lang="zh-CN" altLang="en-US" dirty="0"/>
              <a:t>职位</a:t>
            </a:r>
            <a:endParaRPr lang="zh-CN" altLang="en-US" dirty="0"/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15" hasCustomPrompt="1"/>
          </p:nvPr>
        </p:nvSpPr>
        <p:spPr>
          <a:xfrm>
            <a:off x="4312920" y="3225444"/>
            <a:ext cx="5660687" cy="1394934"/>
          </a:xfrm>
        </p:spPr>
        <p:txBody>
          <a:bodyPr wrap="square">
            <a:sp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请输入你的内容 请输入你的内容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 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</a:t>
            </a:r>
            <a:endParaRPr lang="zh-CN" altLang="en-US" dirty="0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2708535" y="1822324"/>
            <a:ext cx="7728532" cy="3693073"/>
            <a:chOff x="2665485" y="1700404"/>
            <a:chExt cx="7728532" cy="3693073"/>
          </a:xfrm>
        </p:grpSpPr>
        <p:sp>
          <p:nvSpPr>
            <p:cNvPr id="3" name="矩形 2"/>
            <p:cNvSpPr/>
            <p:nvPr userDrawn="1"/>
          </p:nvSpPr>
          <p:spPr>
            <a:xfrm>
              <a:off x="2665485" y="1712747"/>
              <a:ext cx="7718645" cy="3680730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/>
            <p:cNvSpPr/>
            <p:nvPr userDrawn="1"/>
          </p:nvSpPr>
          <p:spPr>
            <a:xfrm rot="5400000" flipV="1">
              <a:off x="9518824" y="1700352"/>
              <a:ext cx="875141" cy="875245"/>
            </a:xfrm>
            <a:prstGeom prst="triangle">
              <a:avLst>
                <a:gd name="adj" fmla="val 0"/>
              </a:avLst>
            </a:prstGeom>
            <a:ln>
              <a:noFill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图片占位符 16"/>
          <p:cNvSpPr>
            <a:spLocks noGrp="1"/>
          </p:cNvSpPr>
          <p:nvPr>
            <p:ph type="pic" sz="quarter" idx="16"/>
          </p:nvPr>
        </p:nvSpPr>
        <p:spPr>
          <a:xfrm>
            <a:off x="1318563" y="2109256"/>
            <a:ext cx="2364579" cy="3115317"/>
          </a:xfr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6013765" y="3118681"/>
            <a:ext cx="24950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1"/>
          </p:nvPr>
        </p:nvSpPr>
        <p:spPr>
          <a:xfrm>
            <a:off x="8318763" y="2034369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图片占位符 18"/>
          <p:cNvSpPr>
            <a:spLocks noGrp="1"/>
          </p:cNvSpPr>
          <p:nvPr>
            <p:ph type="pic" sz="quarter" idx="12"/>
          </p:nvPr>
        </p:nvSpPr>
        <p:spPr>
          <a:xfrm>
            <a:off x="4944317" y="2009982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578761" y="2009983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45"/>
          <p:cNvSpPr/>
          <p:nvPr/>
        </p:nvSpPr>
        <p:spPr bwMode="auto">
          <a:xfrm>
            <a:off x="2891583" y="5252070"/>
            <a:ext cx="3004934" cy="132606"/>
          </a:xfrm>
          <a:custGeom>
            <a:avLst/>
            <a:gdLst>
              <a:gd name="T0" fmla="*/ 0 w 885"/>
              <a:gd name="T1" fmla="*/ 16 h 39"/>
              <a:gd name="T2" fmla="*/ 78 w 885"/>
              <a:gd name="T3" fmla="*/ 39 h 39"/>
              <a:gd name="T4" fmla="*/ 885 w 885"/>
              <a:gd name="T5" fmla="*/ 39 h 39"/>
              <a:gd name="T6" fmla="*/ 885 w 885"/>
              <a:gd name="T7" fmla="*/ 0 h 39"/>
              <a:gd name="T8" fmla="*/ 0 w 885"/>
              <a:gd name="T9" fmla="*/ 0 h 39"/>
              <a:gd name="T10" fmla="*/ 0 w 885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5" h="39">
                <a:moveTo>
                  <a:pt x="0" y="16"/>
                </a:moveTo>
                <a:cubicBezTo>
                  <a:pt x="0" y="23"/>
                  <a:pt x="30" y="39"/>
                  <a:pt x="78" y="39"/>
                </a:cubicBezTo>
                <a:cubicBezTo>
                  <a:pt x="126" y="39"/>
                  <a:pt x="885" y="39"/>
                  <a:pt x="885" y="39"/>
                </a:cubicBezTo>
                <a:cubicBezTo>
                  <a:pt x="885" y="0"/>
                  <a:pt x="885" y="0"/>
                  <a:pt x="885" y="0"/>
                </a:cubicBezTo>
                <a:cubicBezTo>
                  <a:pt x="0" y="0"/>
                  <a:pt x="0" y="0"/>
                  <a:pt x="0" y="0"/>
                </a:cubicBezTo>
                <a:lnTo>
                  <a:pt x="0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5" name="Freeform 46"/>
          <p:cNvSpPr/>
          <p:nvPr/>
        </p:nvSpPr>
        <p:spPr bwMode="auto">
          <a:xfrm>
            <a:off x="5852327" y="5252070"/>
            <a:ext cx="3004934" cy="132606"/>
          </a:xfrm>
          <a:custGeom>
            <a:avLst/>
            <a:gdLst>
              <a:gd name="T0" fmla="*/ 884 w 884"/>
              <a:gd name="T1" fmla="*/ 16 h 39"/>
              <a:gd name="T2" fmla="*/ 806 w 884"/>
              <a:gd name="T3" fmla="*/ 39 h 39"/>
              <a:gd name="T4" fmla="*/ 0 w 884"/>
              <a:gd name="T5" fmla="*/ 39 h 39"/>
              <a:gd name="T6" fmla="*/ 0 w 884"/>
              <a:gd name="T7" fmla="*/ 0 h 39"/>
              <a:gd name="T8" fmla="*/ 884 w 884"/>
              <a:gd name="T9" fmla="*/ 0 h 39"/>
              <a:gd name="T10" fmla="*/ 884 w 884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4" h="39">
                <a:moveTo>
                  <a:pt x="884" y="16"/>
                </a:moveTo>
                <a:cubicBezTo>
                  <a:pt x="884" y="23"/>
                  <a:pt x="854" y="39"/>
                  <a:pt x="806" y="39"/>
                </a:cubicBezTo>
                <a:cubicBezTo>
                  <a:pt x="758" y="39"/>
                  <a:pt x="0" y="39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884" y="0"/>
                  <a:pt x="884" y="0"/>
                  <a:pt x="884" y="0"/>
                </a:cubicBezTo>
                <a:lnTo>
                  <a:pt x="884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7" name="Freeform 47"/>
          <p:cNvSpPr/>
          <p:nvPr/>
        </p:nvSpPr>
        <p:spPr bwMode="auto">
          <a:xfrm>
            <a:off x="3479652" y="1950543"/>
            <a:ext cx="4833729" cy="3311728"/>
          </a:xfrm>
          <a:custGeom>
            <a:avLst/>
            <a:gdLst>
              <a:gd name="T0" fmla="*/ 1378 w 1423"/>
              <a:gd name="T1" fmla="*/ 0 h 974"/>
              <a:gd name="T2" fmla="*/ 45 w 1423"/>
              <a:gd name="T3" fmla="*/ 0 h 974"/>
              <a:gd name="T4" fmla="*/ 0 w 1423"/>
              <a:gd name="T5" fmla="*/ 45 h 974"/>
              <a:gd name="T6" fmla="*/ 0 w 1423"/>
              <a:gd name="T7" fmla="*/ 218 h 974"/>
              <a:gd name="T8" fmla="*/ 0 w 1423"/>
              <a:gd name="T9" fmla="*/ 929 h 974"/>
              <a:gd name="T10" fmla="*/ 45 w 1423"/>
              <a:gd name="T11" fmla="*/ 974 h 974"/>
              <a:gd name="T12" fmla="*/ 1378 w 1423"/>
              <a:gd name="T13" fmla="*/ 974 h 974"/>
              <a:gd name="T14" fmla="*/ 1423 w 1423"/>
              <a:gd name="T15" fmla="*/ 929 h 974"/>
              <a:gd name="T16" fmla="*/ 1423 w 1423"/>
              <a:gd name="T17" fmla="*/ 45 h 974"/>
              <a:gd name="T18" fmla="*/ 1378 w 1423"/>
              <a:gd name="T19" fmla="*/ 0 h 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3" h="974">
                <a:moveTo>
                  <a:pt x="1378" y="0"/>
                </a:move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929"/>
                  <a:pt x="0" y="929"/>
                  <a:pt x="0" y="929"/>
                </a:cubicBezTo>
                <a:cubicBezTo>
                  <a:pt x="0" y="954"/>
                  <a:pt x="20" y="974"/>
                  <a:pt x="45" y="974"/>
                </a:cubicBezTo>
                <a:cubicBezTo>
                  <a:pt x="1378" y="974"/>
                  <a:pt x="1378" y="974"/>
                  <a:pt x="1378" y="974"/>
                </a:cubicBezTo>
                <a:cubicBezTo>
                  <a:pt x="1403" y="974"/>
                  <a:pt x="1423" y="954"/>
                  <a:pt x="1423" y="929"/>
                </a:cubicBezTo>
                <a:cubicBezTo>
                  <a:pt x="1423" y="45"/>
                  <a:pt x="1423" y="45"/>
                  <a:pt x="1423" y="45"/>
                </a:cubicBezTo>
                <a:cubicBezTo>
                  <a:pt x="1423" y="20"/>
                  <a:pt x="1403" y="0"/>
                  <a:pt x="1378" y="0"/>
                </a:cubicBezTo>
                <a:close/>
              </a:path>
            </a:pathLst>
          </a:custGeom>
          <a:solidFill>
            <a:srgbClr val="D2D3D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8" name="Freeform 48"/>
          <p:cNvSpPr/>
          <p:nvPr/>
        </p:nvSpPr>
        <p:spPr bwMode="auto">
          <a:xfrm>
            <a:off x="3496649" y="1967543"/>
            <a:ext cx="4803138" cy="3277727"/>
          </a:xfrm>
          <a:custGeom>
            <a:avLst/>
            <a:gdLst>
              <a:gd name="T0" fmla="*/ 40 w 1414"/>
              <a:gd name="T1" fmla="*/ 964 h 964"/>
              <a:gd name="T2" fmla="*/ 0 w 1414"/>
              <a:gd name="T3" fmla="*/ 924 h 964"/>
              <a:gd name="T4" fmla="*/ 0 w 1414"/>
              <a:gd name="T5" fmla="*/ 40 h 964"/>
              <a:gd name="T6" fmla="*/ 40 w 1414"/>
              <a:gd name="T7" fmla="*/ 0 h 964"/>
              <a:gd name="T8" fmla="*/ 1373 w 1414"/>
              <a:gd name="T9" fmla="*/ 0 h 964"/>
              <a:gd name="T10" fmla="*/ 1414 w 1414"/>
              <a:gd name="T11" fmla="*/ 40 h 964"/>
              <a:gd name="T12" fmla="*/ 1414 w 1414"/>
              <a:gd name="T13" fmla="*/ 924 h 964"/>
              <a:gd name="T14" fmla="*/ 1373 w 1414"/>
              <a:gd name="T15" fmla="*/ 964 h 964"/>
              <a:gd name="T16" fmla="*/ 40 w 1414"/>
              <a:gd name="T17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4" h="964">
                <a:moveTo>
                  <a:pt x="40" y="964"/>
                </a:moveTo>
                <a:cubicBezTo>
                  <a:pt x="18" y="964"/>
                  <a:pt x="0" y="946"/>
                  <a:pt x="0" y="924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1373" y="0"/>
                  <a:pt x="1373" y="0"/>
                  <a:pt x="1373" y="0"/>
                </a:cubicBezTo>
                <a:cubicBezTo>
                  <a:pt x="1396" y="0"/>
                  <a:pt x="1414" y="18"/>
                  <a:pt x="1414" y="40"/>
                </a:cubicBezTo>
                <a:cubicBezTo>
                  <a:pt x="1414" y="924"/>
                  <a:pt x="1414" y="924"/>
                  <a:pt x="1414" y="924"/>
                </a:cubicBezTo>
                <a:cubicBezTo>
                  <a:pt x="1414" y="946"/>
                  <a:pt x="1396" y="964"/>
                  <a:pt x="1373" y="964"/>
                </a:cubicBezTo>
                <a:lnTo>
                  <a:pt x="40" y="964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9" name="Rectangle 50"/>
          <p:cNvSpPr>
            <a:spLocks noChangeArrowheads="1"/>
          </p:cNvSpPr>
          <p:nvPr/>
        </p:nvSpPr>
        <p:spPr bwMode="auto">
          <a:xfrm>
            <a:off x="2891583" y="5197667"/>
            <a:ext cx="5965680" cy="108804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3656414" y="2174950"/>
            <a:ext cx="4483608" cy="283231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51"/>
          <p:cNvSpPr/>
          <p:nvPr/>
        </p:nvSpPr>
        <p:spPr bwMode="auto">
          <a:xfrm>
            <a:off x="5444416" y="5197667"/>
            <a:ext cx="856610" cy="61202"/>
          </a:xfrm>
          <a:custGeom>
            <a:avLst/>
            <a:gdLst>
              <a:gd name="T0" fmla="*/ 0 w 252"/>
              <a:gd name="T1" fmla="*/ 0 h 18"/>
              <a:gd name="T2" fmla="*/ 22 w 252"/>
              <a:gd name="T3" fmla="*/ 18 h 18"/>
              <a:gd name="T4" fmla="*/ 230 w 252"/>
              <a:gd name="T5" fmla="*/ 18 h 18"/>
              <a:gd name="T6" fmla="*/ 252 w 252"/>
              <a:gd name="T7" fmla="*/ 0 h 18"/>
              <a:gd name="T8" fmla="*/ 0 w 252"/>
              <a:gd name="T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2" h="18">
                <a:moveTo>
                  <a:pt x="0" y="0"/>
                </a:moveTo>
                <a:cubicBezTo>
                  <a:pt x="2" y="10"/>
                  <a:pt x="11" y="18"/>
                  <a:pt x="22" y="18"/>
                </a:cubicBezTo>
                <a:cubicBezTo>
                  <a:pt x="230" y="18"/>
                  <a:pt x="230" y="18"/>
                  <a:pt x="230" y="18"/>
                </a:cubicBezTo>
                <a:cubicBezTo>
                  <a:pt x="241" y="18"/>
                  <a:pt x="250" y="10"/>
                  <a:pt x="25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3B4B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2" name="Oval 54"/>
          <p:cNvSpPr>
            <a:spLocks noChangeArrowheads="1"/>
          </p:cNvSpPr>
          <p:nvPr/>
        </p:nvSpPr>
        <p:spPr bwMode="auto">
          <a:xfrm>
            <a:off x="5869324" y="2055946"/>
            <a:ext cx="50989" cy="51003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3" name="Oval 55"/>
          <p:cNvSpPr>
            <a:spLocks noChangeArrowheads="1"/>
          </p:cNvSpPr>
          <p:nvPr/>
        </p:nvSpPr>
        <p:spPr bwMode="auto">
          <a:xfrm>
            <a:off x="5869324" y="2052547"/>
            <a:ext cx="50989" cy="47602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4" name="Oval 56"/>
          <p:cNvSpPr>
            <a:spLocks noChangeArrowheads="1"/>
          </p:cNvSpPr>
          <p:nvPr/>
        </p:nvSpPr>
        <p:spPr bwMode="auto">
          <a:xfrm>
            <a:off x="5879520" y="2059347"/>
            <a:ext cx="30595" cy="340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5" name="Oval 57"/>
          <p:cNvSpPr>
            <a:spLocks noChangeArrowheads="1"/>
          </p:cNvSpPr>
          <p:nvPr/>
        </p:nvSpPr>
        <p:spPr bwMode="auto">
          <a:xfrm>
            <a:off x="5886318" y="2069547"/>
            <a:ext cx="16998" cy="17002"/>
          </a:xfrm>
          <a:prstGeom prst="ellipse">
            <a:avLst/>
          </a:prstGeom>
          <a:solidFill>
            <a:srgbClr val="2C99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6" name="Freeform 58"/>
          <p:cNvSpPr/>
          <p:nvPr/>
        </p:nvSpPr>
        <p:spPr bwMode="auto">
          <a:xfrm>
            <a:off x="5893117" y="2072948"/>
            <a:ext cx="3400" cy="6801"/>
          </a:xfrm>
          <a:custGeom>
            <a:avLst/>
            <a:gdLst>
              <a:gd name="T0" fmla="*/ 1 w 1"/>
              <a:gd name="T1" fmla="*/ 1 h 2"/>
              <a:gd name="T2" fmla="*/ 1 w 1"/>
              <a:gd name="T3" fmla="*/ 2 h 2"/>
              <a:gd name="T4" fmla="*/ 0 w 1"/>
              <a:gd name="T5" fmla="*/ 1 h 2"/>
              <a:gd name="T6" fmla="*/ 1 w 1"/>
              <a:gd name="T7" fmla="*/ 0 h 2"/>
              <a:gd name="T8" fmla="*/ 1 w 1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0" name="Oval 61"/>
          <p:cNvSpPr>
            <a:spLocks noChangeArrowheads="1"/>
          </p:cNvSpPr>
          <p:nvPr/>
        </p:nvSpPr>
        <p:spPr bwMode="auto">
          <a:xfrm>
            <a:off x="8791476" y="3186115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1" name="Oval 62"/>
          <p:cNvSpPr>
            <a:spLocks noChangeArrowheads="1"/>
          </p:cNvSpPr>
          <p:nvPr/>
        </p:nvSpPr>
        <p:spPr bwMode="auto">
          <a:xfrm>
            <a:off x="8803526" y="3198168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2" name="Oval 63"/>
          <p:cNvSpPr>
            <a:spLocks noChangeArrowheads="1"/>
          </p:cNvSpPr>
          <p:nvPr/>
        </p:nvSpPr>
        <p:spPr bwMode="auto">
          <a:xfrm>
            <a:off x="8791476" y="3183100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3" name="Oval 64"/>
          <p:cNvSpPr>
            <a:spLocks noChangeArrowheads="1"/>
          </p:cNvSpPr>
          <p:nvPr/>
        </p:nvSpPr>
        <p:spPr bwMode="auto">
          <a:xfrm>
            <a:off x="8803526" y="3195154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4" name="Oval 65"/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5" name="Oval 66"/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6" name="Oval 67"/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7" name="Oval 68"/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8" name="Freeform 69"/>
          <p:cNvSpPr/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9" name="Freeform 70"/>
          <p:cNvSpPr/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0" name="Oval 71"/>
          <p:cNvSpPr>
            <a:spLocks noChangeArrowheads="1"/>
          </p:cNvSpPr>
          <p:nvPr/>
        </p:nvSpPr>
        <p:spPr bwMode="auto">
          <a:xfrm>
            <a:off x="8710136" y="5361792"/>
            <a:ext cx="195821" cy="195872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1" name="Freeform 72"/>
          <p:cNvSpPr/>
          <p:nvPr/>
        </p:nvSpPr>
        <p:spPr bwMode="auto">
          <a:xfrm>
            <a:off x="8758338" y="5410006"/>
            <a:ext cx="99417" cy="99443"/>
          </a:xfrm>
          <a:custGeom>
            <a:avLst/>
            <a:gdLst>
              <a:gd name="T0" fmla="*/ 31 w 33"/>
              <a:gd name="T1" fmla="*/ 22 h 33"/>
              <a:gd name="T2" fmla="*/ 29 w 33"/>
              <a:gd name="T3" fmla="*/ 22 h 33"/>
              <a:gd name="T4" fmla="*/ 22 w 33"/>
              <a:gd name="T5" fmla="*/ 29 h 33"/>
              <a:gd name="T6" fmla="*/ 11 w 33"/>
              <a:gd name="T7" fmla="*/ 29 h 33"/>
              <a:gd name="T8" fmla="*/ 4 w 33"/>
              <a:gd name="T9" fmla="*/ 22 h 33"/>
              <a:gd name="T10" fmla="*/ 4 w 33"/>
              <a:gd name="T11" fmla="*/ 11 h 33"/>
              <a:gd name="T12" fmla="*/ 11 w 33"/>
              <a:gd name="T13" fmla="*/ 4 h 33"/>
              <a:gd name="T14" fmla="*/ 22 w 33"/>
              <a:gd name="T15" fmla="*/ 4 h 33"/>
              <a:gd name="T16" fmla="*/ 29 w 33"/>
              <a:gd name="T17" fmla="*/ 11 h 33"/>
              <a:gd name="T18" fmla="*/ 29 w 33"/>
              <a:gd name="T19" fmla="*/ 22 h 33"/>
              <a:gd name="T20" fmla="*/ 31 w 33"/>
              <a:gd name="T21" fmla="*/ 22 h 33"/>
              <a:gd name="T22" fmla="*/ 33 w 33"/>
              <a:gd name="T23" fmla="*/ 22 h 33"/>
              <a:gd name="T24" fmla="*/ 33 w 33"/>
              <a:gd name="T25" fmla="*/ 11 h 33"/>
              <a:gd name="T26" fmla="*/ 22 w 33"/>
              <a:gd name="T27" fmla="*/ 0 h 33"/>
              <a:gd name="T28" fmla="*/ 11 w 33"/>
              <a:gd name="T29" fmla="*/ 0 h 33"/>
              <a:gd name="T30" fmla="*/ 0 w 33"/>
              <a:gd name="T31" fmla="*/ 11 h 33"/>
              <a:gd name="T32" fmla="*/ 0 w 33"/>
              <a:gd name="T33" fmla="*/ 22 h 33"/>
              <a:gd name="T34" fmla="*/ 11 w 33"/>
              <a:gd name="T35" fmla="*/ 33 h 33"/>
              <a:gd name="T36" fmla="*/ 22 w 33"/>
              <a:gd name="T37" fmla="*/ 33 h 33"/>
              <a:gd name="T38" fmla="*/ 33 w 33"/>
              <a:gd name="T39" fmla="*/ 22 h 33"/>
              <a:gd name="T40" fmla="*/ 31 w 33"/>
              <a:gd name="T41" fmla="*/ 2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3" h="33">
                <a:moveTo>
                  <a:pt x="31" y="22"/>
                </a:moveTo>
                <a:cubicBezTo>
                  <a:pt x="29" y="22"/>
                  <a:pt x="29" y="22"/>
                  <a:pt x="29" y="22"/>
                </a:cubicBezTo>
                <a:cubicBezTo>
                  <a:pt x="29" y="26"/>
                  <a:pt x="26" y="29"/>
                  <a:pt x="22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7" y="29"/>
                  <a:pt x="4" y="26"/>
                  <a:pt x="4" y="22"/>
                </a:cubicBezTo>
                <a:cubicBezTo>
                  <a:pt x="4" y="11"/>
                  <a:pt x="4" y="11"/>
                  <a:pt x="4" y="11"/>
                </a:cubicBezTo>
                <a:cubicBezTo>
                  <a:pt x="4" y="7"/>
                  <a:pt x="7" y="4"/>
                  <a:pt x="11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6" y="4"/>
                  <a:pt x="29" y="7"/>
                  <a:pt x="29" y="11"/>
                </a:cubicBezTo>
                <a:cubicBezTo>
                  <a:pt x="29" y="22"/>
                  <a:pt x="29" y="22"/>
                  <a:pt x="29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11"/>
                  <a:pt x="33" y="11"/>
                  <a:pt x="33" y="11"/>
                </a:cubicBezTo>
                <a:cubicBezTo>
                  <a:pt x="33" y="5"/>
                  <a:pt x="28" y="0"/>
                  <a:pt x="2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8"/>
                  <a:pt x="5" y="33"/>
                  <a:pt x="11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28" y="33"/>
                  <a:pt x="33" y="28"/>
                  <a:pt x="33" y="22"/>
                </a:cubicBezTo>
                <a:lnTo>
                  <a:pt x="31" y="22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3" name="Freeform 75"/>
          <p:cNvSpPr/>
          <p:nvPr/>
        </p:nvSpPr>
        <p:spPr bwMode="auto">
          <a:xfrm>
            <a:off x="8716162" y="3273502"/>
            <a:ext cx="219923" cy="51229"/>
          </a:xfrm>
          <a:custGeom>
            <a:avLst/>
            <a:gdLst>
              <a:gd name="T0" fmla="*/ 8 w 73"/>
              <a:gd name="T1" fmla="*/ 17 h 17"/>
              <a:gd name="T2" fmla="*/ 0 w 73"/>
              <a:gd name="T3" fmla="*/ 9 h 17"/>
              <a:gd name="T4" fmla="*/ 8 w 73"/>
              <a:gd name="T5" fmla="*/ 0 h 17"/>
              <a:gd name="T6" fmla="*/ 65 w 73"/>
              <a:gd name="T7" fmla="*/ 0 h 17"/>
              <a:gd name="T8" fmla="*/ 73 w 73"/>
              <a:gd name="T9" fmla="*/ 9 h 17"/>
              <a:gd name="T10" fmla="*/ 65 w 73"/>
              <a:gd name="T11" fmla="*/ 17 h 17"/>
              <a:gd name="T12" fmla="*/ 8 w 73"/>
              <a:gd name="T13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3" h="17">
                <a:moveTo>
                  <a:pt x="8" y="17"/>
                </a:moveTo>
                <a:cubicBezTo>
                  <a:pt x="3" y="17"/>
                  <a:pt x="0" y="13"/>
                  <a:pt x="0" y="9"/>
                </a:cubicBezTo>
                <a:cubicBezTo>
                  <a:pt x="0" y="4"/>
                  <a:pt x="3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70" y="0"/>
                  <a:pt x="73" y="4"/>
                  <a:pt x="73" y="9"/>
                </a:cubicBezTo>
                <a:cubicBezTo>
                  <a:pt x="73" y="13"/>
                  <a:pt x="70" y="17"/>
                  <a:pt x="65" y="17"/>
                </a:cubicBezTo>
                <a:lnTo>
                  <a:pt x="8" y="1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4" name="Freeform 76"/>
          <p:cNvSpPr/>
          <p:nvPr/>
        </p:nvSpPr>
        <p:spPr bwMode="auto">
          <a:xfrm>
            <a:off x="8728212" y="3288570"/>
            <a:ext cx="195821" cy="21095"/>
          </a:xfrm>
          <a:custGeom>
            <a:avLst/>
            <a:gdLst>
              <a:gd name="T0" fmla="*/ 65 w 65"/>
              <a:gd name="T1" fmla="*/ 4 h 7"/>
              <a:gd name="T2" fmla="*/ 61 w 65"/>
              <a:gd name="T3" fmla="*/ 7 h 7"/>
              <a:gd name="T4" fmla="*/ 4 w 65"/>
              <a:gd name="T5" fmla="*/ 7 h 7"/>
              <a:gd name="T6" fmla="*/ 0 w 65"/>
              <a:gd name="T7" fmla="*/ 4 h 7"/>
              <a:gd name="T8" fmla="*/ 4 w 65"/>
              <a:gd name="T9" fmla="*/ 0 h 7"/>
              <a:gd name="T10" fmla="*/ 61 w 65"/>
              <a:gd name="T11" fmla="*/ 0 h 7"/>
              <a:gd name="T12" fmla="*/ 65 w 65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5" h="7">
                <a:moveTo>
                  <a:pt x="65" y="4"/>
                </a:moveTo>
                <a:cubicBezTo>
                  <a:pt x="65" y="6"/>
                  <a:pt x="63" y="7"/>
                  <a:pt x="61" y="7"/>
                </a:cubicBezTo>
                <a:cubicBezTo>
                  <a:pt x="4" y="7"/>
                  <a:pt x="4" y="7"/>
                  <a:pt x="4" y="7"/>
                </a:cubicBezTo>
                <a:cubicBezTo>
                  <a:pt x="2" y="7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5" y="2"/>
                  <a:pt x="65" y="4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5" name="Oval 77"/>
          <p:cNvSpPr>
            <a:spLocks noChangeArrowheads="1"/>
          </p:cNvSpPr>
          <p:nvPr/>
        </p:nvSpPr>
        <p:spPr bwMode="auto">
          <a:xfrm>
            <a:off x="8643859" y="3282543"/>
            <a:ext cx="33140" cy="33148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8281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/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 userDrawn="1"/>
        </p:nvGrpSpPr>
        <p:grpSpPr>
          <a:xfrm>
            <a:off x="670560" y="1959198"/>
            <a:ext cx="6136670" cy="3434133"/>
            <a:chOff x="2891583" y="1950543"/>
            <a:chExt cx="5965680" cy="3434133"/>
          </a:xfrm>
        </p:grpSpPr>
        <p:sp>
          <p:nvSpPr>
            <p:cNvPr id="14" name="Freeform 45"/>
            <p:cNvSpPr/>
            <p:nvPr/>
          </p:nvSpPr>
          <p:spPr bwMode="auto">
            <a:xfrm>
              <a:off x="2891583" y="5252070"/>
              <a:ext cx="3004934" cy="132606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5" name="Freeform 46"/>
            <p:cNvSpPr/>
            <p:nvPr/>
          </p:nvSpPr>
          <p:spPr bwMode="auto">
            <a:xfrm>
              <a:off x="5852327" y="5252070"/>
              <a:ext cx="3004934" cy="132606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7" name="Freeform 47"/>
            <p:cNvSpPr/>
            <p:nvPr/>
          </p:nvSpPr>
          <p:spPr bwMode="auto">
            <a:xfrm>
              <a:off x="3479652" y="1950543"/>
              <a:ext cx="4833729" cy="3311728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8" name="Freeform 48"/>
            <p:cNvSpPr/>
            <p:nvPr/>
          </p:nvSpPr>
          <p:spPr bwMode="auto">
            <a:xfrm>
              <a:off x="3496649" y="1967543"/>
              <a:ext cx="4803138" cy="3277727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9" name="Rectangle 50"/>
            <p:cNvSpPr>
              <a:spLocks noChangeArrowheads="1"/>
            </p:cNvSpPr>
            <p:nvPr/>
          </p:nvSpPr>
          <p:spPr bwMode="auto">
            <a:xfrm>
              <a:off x="2891583" y="5197667"/>
              <a:ext cx="5965680" cy="108804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0" name="Freeform 51"/>
            <p:cNvSpPr/>
            <p:nvPr/>
          </p:nvSpPr>
          <p:spPr bwMode="auto">
            <a:xfrm>
              <a:off x="5444416" y="5197667"/>
              <a:ext cx="856610" cy="61202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2" name="Oval 54"/>
            <p:cNvSpPr>
              <a:spLocks noChangeArrowheads="1"/>
            </p:cNvSpPr>
            <p:nvPr/>
          </p:nvSpPr>
          <p:spPr bwMode="auto">
            <a:xfrm>
              <a:off x="5869324" y="2055946"/>
              <a:ext cx="50989" cy="5100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3" name="Oval 55"/>
            <p:cNvSpPr>
              <a:spLocks noChangeArrowheads="1"/>
            </p:cNvSpPr>
            <p:nvPr/>
          </p:nvSpPr>
          <p:spPr bwMode="auto">
            <a:xfrm>
              <a:off x="5869324" y="2052547"/>
              <a:ext cx="50989" cy="47602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4" name="Oval 56"/>
            <p:cNvSpPr>
              <a:spLocks noChangeArrowheads="1"/>
            </p:cNvSpPr>
            <p:nvPr/>
          </p:nvSpPr>
          <p:spPr bwMode="auto">
            <a:xfrm>
              <a:off x="5879520" y="2059347"/>
              <a:ext cx="30595" cy="340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5" name="Oval 57"/>
            <p:cNvSpPr>
              <a:spLocks noChangeArrowheads="1"/>
            </p:cNvSpPr>
            <p:nvPr/>
          </p:nvSpPr>
          <p:spPr bwMode="auto">
            <a:xfrm>
              <a:off x="5886318" y="2069547"/>
              <a:ext cx="16998" cy="1700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6" name="Freeform 58"/>
            <p:cNvSpPr/>
            <p:nvPr/>
          </p:nvSpPr>
          <p:spPr bwMode="auto">
            <a:xfrm>
              <a:off x="5893117" y="2072948"/>
              <a:ext cx="3400" cy="6801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182816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</p:grpSp>
      <p:sp>
        <p:nvSpPr>
          <p:cNvPr id="3" name="矩形 2"/>
          <p:cNvSpPr>
            <a:spLocks noChangeAspect="1"/>
          </p:cNvSpPr>
          <p:nvPr userDrawn="1"/>
        </p:nvSpPr>
        <p:spPr>
          <a:xfrm>
            <a:off x="1469639" y="2349701"/>
            <a:ext cx="4592069" cy="2583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/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1468873" y="2345176"/>
            <a:ext cx="4593600" cy="25920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../media/image7.png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2" cstate="email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7D1D0-11BC-4610-B275-571C8521F0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7563A-2BCF-4CDB-AAE4-8FFF0BA89B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chemeClr val="tx1"/>
                </a:solidFill>
                <a:latin typeface="微软雅黑" panose="020B0503020204020204" charset="-122"/>
              </a:rPr>
              <a:t>预制菜WMS智能仓储管理系统</a:t>
            </a:r>
            <a:endParaRPr sz="4400" b="1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latin typeface="微软雅黑" panose="020B0503020204020204" charset="-122"/>
              </a:rPr>
              <a:t>Prepared Food Warehouse Management System</a:t>
            </a:r>
            <a:endParaRPr sz="2000">
              <a:latin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汇报人：彭健坤    王佳宁    彭双华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2026年7月19日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325880"/>
            <a:ext cx="25400" cy="2286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361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背景、目标与系统定位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65960"/>
            <a:ext cx="25400" cy="2286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762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前后端技术栈与系统架构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606040"/>
            <a:ext cx="25400" cy="2286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核心业务流程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163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出入库、质检、盘点的完整闭环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246120"/>
            <a:ext cx="25400" cy="2286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AI 智能助手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564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DeepSeek 大模型 + 真实数据注入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886200"/>
            <a:ext cx="25400" cy="2286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数据可视化看板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0965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ECharts 图表实时监控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526280"/>
            <a:ext cx="25400" cy="2286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微信小程序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736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跨平台移动端适配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20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166360"/>
            <a:ext cx="25400" cy="2286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项目亮点总结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376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四大亮点与创新点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806440"/>
            <a:ext cx="25400" cy="2286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系统演示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016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现场展示 + Q&amp;A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1280160"/>
            <a:ext cx="4572000" cy="4754880"/>
          </a:xfrm>
          <a:prstGeom prst="rect">
            <a:avLst/>
          </a:prstGeom>
          <a:solidFill>
            <a:srgbClr val="EEEEEE"/>
          </a:solidFill>
          <a:ln w="12700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插入图片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01  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项目定位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为预制菜行业量身打造的仓库管理系统（WMS），覆盖从货物入库、存储、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出库到质检、盘点的全生命周期管理。</a:t>
            </a:r>
          </a:p>
          <a:p>
            <a:pPr algn="l">
              <a:defRPr sz="6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解决的核心问题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传统纸质记录效率低、易出错 → 数字化管理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库存数据不透明、难追溯 → 实时库存 + 操作日志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多角色协作混乱 → 主管/员工/质检员三级权限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缺乏数据支撑决策 → 可视化数据看板</a:t>
            </a:r>
          </a:p>
          <a:p>
            <a:pPr algn="l">
              <a:defRPr sz="6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系统规模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22 张数据库表 | 8 个前端页面 | 6 个小程序页面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支持 Web 端 + 微信小程序双平台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完整覆盖 入库→存储→出库→质检→盘点 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188720"/>
            <a:ext cx="4206240" cy="4846320"/>
          </a:xfrm>
          <a:prstGeom prst="rect">
            <a:avLst/>
          </a:prstGeom>
          <a:solidFill>
            <a:srgbClr val="EEEEEE"/>
          </a:solidFill>
          <a:ln w="12700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插入图片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02  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62179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8100" cy="74980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338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Vue 3 + Element Plus + ECharts + Axios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Widescreen (1920x1080), 暗色/亮色主题切换, AES密码加密传输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62179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38100" cy="74980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025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通信层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HTTP RESTful API + JWT 令牌认证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41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Axios 拦截器自动附加 Token, Vite 代理解决跨域, 统一 ResultData 响应格式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62179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38100" cy="74980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712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后端层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1089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Spring Boot 3 + MyBatis + Maven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101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三层架构(Controller→Service→Mapper), 事务管理(@Transactional), 全局异常处理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62179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03320"/>
            <a:ext cx="38100" cy="74980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39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776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MySQL 8.0 + Redis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788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22张业务表, Redis 缓存用户会话, MyBatis 动态 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72000"/>
            <a:ext cx="62179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572000"/>
            <a:ext cx="38100" cy="74980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085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AI 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463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DeepSeek 大模型 (API 调用)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0474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OkHttp 发送请求, 系统提示词约束, 真实数据库数据注入上下文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1097280"/>
            <a:ext cx="42062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128016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技术栈一览</a:t>
            </a:r>
          </a:p>
          <a:p>
            <a:pPr algn="l">
              <a:defRPr sz="4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前端：Vue 3 · Element Plus · ECharts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后端：Spring Boot 3 · MyBatis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数据库：MySQL · Redis</a:t>
            </a:r>
          </a:p>
          <a:p>
            <a:pPr algn="l">
              <a:defRPr sz="1300" b="0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安全：JWT · BCrypt · AES-256-CBC</a:t>
            </a:r>
          </a:p>
          <a:p>
            <a:pPr algn="l">
              <a:defRPr sz="1300" b="0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AI：DeepSeek · OkHttp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工具：EasyExcel · Vite · Maven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657600"/>
            <a:ext cx="4206240" cy="2468880"/>
          </a:xfrm>
          <a:prstGeom prst="rect">
            <a:avLst/>
          </a:prstGeom>
          <a:solidFill>
            <a:srgbClr val="EEEEEE"/>
          </a:solidFill>
          <a:ln w="12700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插入图片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03  核心业务流程 —— 完整闭环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783080" cy="1920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78308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批次创建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生产完成后创建批次 记录生产日期、保质期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56A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2286000" y="1188720"/>
            <a:ext cx="1783080" cy="1920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1188720"/>
            <a:ext cx="1783080" cy="381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325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入库操作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7373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选择批次 指定库位 9张表联动更新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7C7B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4206240" y="1188720"/>
            <a:ext cx="1783080" cy="1920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17830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325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库存管理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7373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实时库位占用状态 先进先出(FIFO)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6126480" y="1188720"/>
            <a:ext cx="1783080" cy="1920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178308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325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质检管理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373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来料检/日常抽检 合格放行 不合格报废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017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8046720" y="1188720"/>
            <a:ext cx="1783080" cy="1920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188720"/>
            <a:ext cx="178308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325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出库操作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7373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选择批次 指定库位 库存扣减 日志记录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56A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9966960" y="1188720"/>
            <a:ext cx="1783080" cy="19202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1188720"/>
            <a:ext cx="1783080" cy="381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1325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报表看板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73736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数据可视化总览 出入库趋势 温湿度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383280"/>
            <a:ext cx="11338560" cy="146304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5204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亮点：一次入库操作涉及 10 张数据库表的联动更新，使用 @Transactional 保证事务一致性</a:t>
            </a:r>
          </a:p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涉及表：inbound_order_head → inbound_order_detail → work_task → operation_log → inventory →</a:t>
            </a:r>
          </a:p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location → zone → warehouse → goods → batch（10张表全部通过事务保护，任何一步失败即回滚）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三层权限架构：主管（全部权限）→ 仓库员工（出入库执行）→ 质检员（质量检查），前端路由守卫 + 后端接口鉴权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20640"/>
            <a:ext cx="11338560" cy="1188720"/>
          </a:xfrm>
          <a:prstGeom prst="rect">
            <a:avLst/>
          </a:prstGeom>
          <a:solidFill>
            <a:srgbClr val="EEEEEE"/>
          </a:solidFill>
          <a:ln w="12700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插入：出入库流程截图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04  AI 智能助手 —— DeepSeek 大模型接入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实现原理</a:t>
            </a:r>
          </a:p>
          <a:p>
            <a:pPr algn="l">
              <a:defRPr sz="4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1. 用户输入问题  前端将问题+历史对话发送到后端 /ai/chat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2. 后端分析关键词（库存/货物/仓库/批次） 查询真实数据库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3. 组装消息：系统提示词 + 真实数据上下文 + 历史对话 + 当前问题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4. OkHttp 发送到 DeepSeek API  解析回复  返回前端</a:t>
            </a:r>
          </a:p>
          <a:p>
            <a:pPr algn="l">
              <a:defRPr sz="8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1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核心技术点</a:t>
            </a:r>
          </a:p>
          <a:p>
            <a:pPr algn="l">
              <a:defRPr sz="4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系统提示词工程：定义AI人设，限制只回答仓储问题，严禁编造数据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真实数据注入（buildDataContext）：智能匹配关键词 查库 注入上下文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上下文对话管理：保留最近10轮历史，localStorage持久化</a:t>
            </a:r>
          </a:p>
          <a:p>
            <a:pPr algn="l">
              <a:defRPr sz="13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• 安全边界：拒绝回答娱乐/金融/政治等无关问题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188720"/>
            <a:ext cx="4114800" cy="2468880"/>
          </a:xfrm>
          <a:prstGeom prst="rect">
            <a:avLst/>
          </a:prstGeom>
          <a:solidFill>
            <a:srgbClr val="EEEEEE"/>
          </a:solidFill>
          <a:ln w="12700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插入：AI对话界面截图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840480"/>
            <a:ext cx="1463040" cy="274320"/>
          </a:xfrm>
          <a:prstGeom prst="round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DeepSeek V3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3840480"/>
            <a:ext cx="1463040" cy="27432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OkHttp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251960"/>
            <a:ext cx="146304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System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4251960"/>
            <a:ext cx="1463040" cy="2743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RAG 数据注入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7548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对话示例：</a:t>
            </a:r>
          </a:p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用户："冷冻鸡排库存多少？"</a:t>
            </a:r>
          </a:p>
          <a:p>
            <a:pPr algn="l">
              <a:defRPr sz="1200" b="0">
                <a:solidFill>
                  <a:srgbClr val="0E7C7B"/>
                </a:solidFill>
                <a:latin typeface="微软雅黑" panose="020B0503020204020204" charset="-122"/>
              </a:defRPr>
            </a:pPr>
            <a:r>
              <a:t>AI："根据系统数据，冷冻鸡排当前库存 为200件，分布3个库位..."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05  数据可视化看板 —— ECharts 实时监控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74320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近7天出入库趋势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折线图（双线） 蓝线=入库量 绿线=出库量  直观展示仓库作业动态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74320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188720"/>
            <a:ext cx="2743200" cy="381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货物数量分布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柱状图  每种货物的库存数量  快速了解货物结构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74320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2743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仓库温湿度监控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双Y轴折线图  左轴=温度( ) 右轴=湿度(%)  冷链温控可视化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188720"/>
            <a:ext cx="274320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188720"/>
            <a:ext cx="27432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325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仓库容量饱和度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737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柱状图  已用库位 vs 总库位  仓库空间利用率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技术实现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前端：ECharts 5 图表库，Dashboard 页面懒加载优化首屏性能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后端：4个专属 Dashboard API，对原始数据做 SQL 聚合查询</a:t>
            </a:r>
          </a:p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数据实时刷新，支持响应式布局适配不同屏幕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11338560" cy="1554480"/>
          </a:xfrm>
          <a:prstGeom prst="rect">
            <a:avLst/>
          </a:prstGeom>
          <a:solidFill>
            <a:srgbClr val="EEEEEE"/>
          </a:solidFill>
          <a:ln w="12700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插入：数据看板全景截图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06  微信小程序 —— 跨平台移动端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移动端能力</a:t>
            </a:r>
          </a:p>
          <a:p>
            <a:pPr algn="l">
              <a:defRPr sz="4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与 Web 端共享同一后端 API，数据实时同步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入库管理 / 出库管理 / 质检管理：支持创建、查看、执行操作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首页数据概览：库存统计 + 快捷操作入口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商品管理 / 批次管理 / 环境监控 / 个人中心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按创建时间倒序排列，本地数据库关联操作人和创建时间</a:t>
            </a:r>
          </a:p>
          <a:p>
            <a:pPr algn="l">
              <a:defRPr sz="8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1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技术特点</a:t>
            </a:r>
          </a:p>
          <a:p>
            <a:pPr algn="l">
              <a:defRPr sz="4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原生微信小程序框架 + Promise 异步处理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wx.request 封装 HTTP 请求，JWT 令牌认证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wx.getStorageSync 本地数据持久化，离线也可查看缓存信息</a:t>
            </a:r>
          </a:p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库位可视化选择（按库区分组），条件过滤（储存条件 仓库类型匹配）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188720"/>
            <a:ext cx="4114800" cy="4846320"/>
          </a:xfrm>
          <a:prstGeom prst="rect">
            <a:avLst/>
          </a:prstGeom>
          <a:solidFill>
            <a:srgbClr val="EEEEEE"/>
          </a:solidFill>
          <a:ln w="12700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插入：小程序截图合集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07  项目亮点总结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8992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8100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521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  亮点一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15214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完整且逻辑闭环的业务流程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813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从批次创建  入库上架  库存管理  质检把控  出库下架  报表分析的完整链路。一次入库操作涉及10张表的联动更新，使用 @Transactional 事务保证数据一致性。22张数据库表覆盖仓储管理的所有核心业务场景，三层权限架构清晰分离不同角色职责。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78992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38100" cy="118872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780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56A0"/>
                </a:solidFill>
                <a:latin typeface="微软雅黑" panose="020B0503020204020204" charset="-122"/>
              </a:defRPr>
            </a:pPr>
            <a:r>
              <a:t>  亮点二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47802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AI 智能助手 —— 真实数据驱动的对话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0720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接入 DeepSeek 大语言模型，通过系统提示词工程限制 AI 职责边界。核心创新：buildDataContext() 方法智能分析用户问题关键词，实时查询数据库并将真实数据注入提示词上下文，AI 基于实际数据回答而非编造。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1078992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40"/>
            <a:ext cx="38100" cy="11887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039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7C7B"/>
                </a:solidFill>
                <a:latin typeface="微软雅黑" panose="020B0503020204020204" charset="-122"/>
              </a:defRPr>
            </a:pPr>
            <a:r>
              <a:t>  亮点三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80390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数据可视化看板 —— 仓储驾驶舱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3308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4个 ECharts 图表实时展示出入库趋势、货物分布、温湿度监控、仓库容量。Dashboard 页面采用路由懒加载，优化首屏性能。后端通过 SQL 聚合查询为每个图表提供专属数据接口，数据实时准确。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78992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381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297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  亮点四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12978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Web+小程序双平台覆盖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5896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同一后端同时服务 Web 管理端和微信小程序移动端。小程序支持入库/出库/质检等核心移动操作，库位可视化选择。暗色/亮色主题切换、AES密码加密传输、Excel数据导出等细节完善。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08  系统演示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0" cy="3810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  现场演示流程</a:t>
            </a:r>
          </a:p>
          <a:p>
            <a:pPr algn="l">
              <a:defRPr sz="600" b="0">
                <a:solidFill>
                  <a:srgbClr val="1A1A2E"/>
                </a:solidFill>
                <a:latin typeface="微软雅黑" panose="020B0503020204020204" charset="-122"/>
              </a:defRPr>
            </a:pPr>
          </a:p>
          <a:p>
            <a:pPr algn="l"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1.  登录系统  首页数据概览</a:t>
            </a:r>
          </a:p>
          <a:p>
            <a:pPr algn="l"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2.  数据看板  出入库趋势 / 温湿度 / 仓库容量</a:t>
            </a:r>
          </a:p>
          <a:p>
            <a:pPr algn="l"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3.  任务中心  创建入库任务  选择批次  执行入库</a:t>
            </a:r>
          </a:p>
          <a:p>
            <a:pPr algn="l"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4.  任务中心  创建出库任务  选择库位  执行出库</a:t>
            </a:r>
          </a:p>
          <a:p>
            <a:pPr algn="l"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5.  AI 助手  提问  展示真实数据回复</a:t>
            </a:r>
          </a:p>
          <a:p>
            <a:pPr algn="l"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6.  微信小程序  入库/出库列表  创建操作  数据同步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188720"/>
            <a:ext cx="4114800" cy="5303520"/>
          </a:xfrm>
          <a:prstGeom prst="rect">
            <a:avLst/>
          </a:prstGeom>
          <a:solidFill>
            <a:srgbClr val="EEEEEE"/>
          </a:solidFill>
          <a:ln w="12700">
            <a:solidFill>
              <a:srgbClr val="BBBBB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插入：系统演示准备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FFFFFF"/>
                </a:solidFill>
                <a:latin typeface="微软雅黑" panose="020B0503020204020204" charset="-122"/>
              </a:rPr>
              <a:t>感谢聆听</a:t>
            </a:r>
            <a:endParaRPr sz="4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>
                <a:latin typeface="微软雅黑" panose="020B0503020204020204" charset="-122"/>
              </a:rPr>
              <a:t>Q &amp; A</a:t>
            </a:r>
            <a:endParaRPr sz="2800"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KSO_WPP_MARK_KEY" val="7e0ad14e-a2a0-4e33-a673-fc2bac8c99f1"/>
  <p:tag name="COMMONDATA" val="eyJoZGlkIjoiMDYyMjVmY2IwOTY4MGRhNzlkMzgzZWE2YTkzN2YxYTkifQ=="/>
</p:tagLst>
</file>

<file path=ppt/theme/theme1.xml><?xml version="1.0" encoding="utf-8"?>
<a:theme xmlns:a="http://schemas.openxmlformats.org/drawingml/2006/main" name="Office 主题​​">
  <a:themeElements>
    <a:clrScheme name="UPC专属模板配色方案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3778"/>
      </a:accent1>
      <a:accent2>
        <a:srgbClr val="D00746"/>
      </a:accent2>
      <a:accent3>
        <a:srgbClr val="FEA200"/>
      </a:accent3>
      <a:accent4>
        <a:srgbClr val="14BAB0"/>
      </a:accent4>
      <a:accent5>
        <a:srgbClr val="CFDC2A"/>
      </a:accent5>
      <a:accent6>
        <a:srgbClr val="73B1C8"/>
      </a:accent6>
      <a:hlink>
        <a:srgbClr val="4472C4"/>
      </a:hlink>
      <a:folHlink>
        <a:srgbClr val="BFBFBF"/>
      </a:folHlink>
    </a:clrScheme>
    <a:fontScheme name="UPC专属模板字体方案">
      <a:majorFont>
        <a:latin typeface="Segoe UI"/>
        <a:ea typeface="微软雅黑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3284</Words>
  <Application>WPS 演示</Application>
  <PresentationFormat>宽屏</PresentationFormat>
  <Paragraphs>290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Microsoft YaHei UI</vt:lpstr>
      <vt:lpstr>Impact</vt:lpstr>
      <vt:lpstr>Roboto Light</vt:lpstr>
      <vt:lpstr>Calibri</vt:lpstr>
      <vt:lpstr>等线</vt:lpstr>
      <vt:lpstr>微软雅黑</vt:lpstr>
      <vt:lpstr>Segoe UI</vt:lpstr>
      <vt:lpstr>Segoe UI Light</vt:lpstr>
      <vt:lpstr>微软雅黑 Light</vt:lpstr>
      <vt:lpstr>Arial Unicode MS</vt:lpstr>
      <vt:lpstr>Segoe Print</vt:lpstr>
      <vt:lpstr>Office 主题​​</vt:lpstr>
      <vt:lpstr>2_OfficePLUS</vt:lpstr>
      <vt:lpstr>1_OfficePLUS</vt:lpstr>
      <vt:lpstr>预制菜WMS智能仓储管理系统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#我为母校送模板#</dc:title>
  <dc:creator>志浩 王</dc:creator>
  <cp:keywords>51PPT模板网</cp:keywords>
  <cp:lastModifiedBy>WPS_1722231341</cp:lastModifiedBy>
  <cp:revision>448</cp:revision>
  <dcterms:created xsi:type="dcterms:W3CDTF">2018-12-20T13:10:00Z</dcterms:created>
  <dcterms:modified xsi:type="dcterms:W3CDTF">2026-07-17T03:13:28Z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2019-04-12T02:32:11.3712254Z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33fb340e-0a7b-4f47-a53e-1f796744a0fc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4C30D6528C984D12A79F518A8F110E6A_13</vt:lpwstr>
  </property>
  <property fmtid="{D5CDD505-2E9C-101B-9397-08002B2CF9AE}" pid="12" name="KSOProductBuildVer">
    <vt:lpwstr>2052-12.1.0.26884</vt:lpwstr>
  </property>
</Properties>
</file>